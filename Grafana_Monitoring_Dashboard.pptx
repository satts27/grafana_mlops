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86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13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8FE6-3645-92D2-099D-D0CAC434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FE208-1AA3-3658-EDB9-BCE67FC32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66045-85A7-39A7-97FB-28D8F48CB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8DDDB-6D56-1409-191F-03259773A1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85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0C9-3884-617F-09B8-5AD7F56D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2C5C9-4325-ED11-590A-76DC94253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2064-ECA3-C08C-4C4E-4E488093A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1D00F-8407-CDE1-01C4-BD63D89A7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60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F407-27C3-8C3B-BC54-4491AE2B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DEB32-AF06-6C02-6E92-7B361ACF6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7C593-B3E1-427F-649F-6A9A3413C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85BE5-173A-261D-F606-835C1BCA2E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39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68F2-704E-6DB3-D771-0ABD84C8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5D833-B5C2-B9B7-57B1-1B59BCECE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D220E-84FD-A3F3-F78C-F5549B55A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455E2-2713-D865-F6B9-DED17F32D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3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ts27/Grafana_MLOp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 ·  MONITORING &amp; OBSERVABILITY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Dashboard with Grafana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Prometheus + Node Exporter, running on Docker Compose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15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Ganiga (MT2025728) - 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</a:t>
            </a:r>
            <a:endParaRPr lang="en-US" sz="1400" dirty="0">
              <a:solidFill>
                <a:srgbClr val="9C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Artificial Intelligence and Data Science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38160" y="1463040"/>
            <a:ext cx="3474720" cy="1280160"/>
          </a:xfrm>
          <a:prstGeom prst="roundRect">
            <a:avLst>
              <a:gd name="adj" fmla="val 8571"/>
            </a:avLst>
          </a:prstGeom>
          <a:solidFill>
            <a:schemeClr val="tx2">
              <a:lumMod val="7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6676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  :9100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host 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306324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3A3F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 :9090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&amp; stores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4663440"/>
            <a:ext cx="3474720" cy="128016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 :3000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&amp; visualizes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monitoring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F46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are silent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27185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Servers can experience high CPU usage, memory exhaustion, or low disk space without immediately crashing. Monitoring helps us detect these warning signs early and take action before they cause downtime.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F46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metrics are unreadable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1563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Tools such as Node Exporter expose system metrics through a </a:t>
            </a:r>
            <a:r>
              <a:rPr lang="en-US" sz="1400" b="1" dirty="0"/>
              <a:t>/metrics </a:t>
            </a:r>
            <a:r>
              <a:rPr lang="en-US" sz="1400" dirty="0"/>
              <a:t>endpoint in plain-text format. Although this data is useful for machines, it is difficult for humans to interpret quickly. Grafana converts these metrics into visual dashboards, charts, and gauges.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rgbClr val="F468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history or trends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961825"/>
            <a:ext cx="4937760" cy="948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A single metric reading shows only the current state of a system. Prometheus stores time-series data, allowing Grafana to display historical trends, identify resource usage spikes, and help us understand how system performance changes over time.</a:t>
            </a:r>
          </a:p>
        </p:txBody>
      </p:sp>
      <p:sp>
        <p:nvSpPr>
          <p:cNvPr id="16" name="Shape 14"/>
          <p:cNvSpPr/>
          <p:nvPr/>
        </p:nvSpPr>
        <p:spPr>
          <a:xfrm>
            <a:off x="6858000" y="1737360"/>
            <a:ext cx="4754880" cy="2709512"/>
          </a:xfrm>
          <a:prstGeom prst="roundRect">
            <a:avLst>
              <a:gd name="adj" fmla="val 2667"/>
            </a:avLst>
          </a:prstGeom>
          <a:solidFill>
            <a:srgbClr val="1F22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project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377440"/>
            <a:ext cx="4297680" cy="1848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containerized monitoring lab. Node Exporter exposes system metrics, Prometheus collects and stores them, and Grafana turns them into real-time dashboards for CPU, memory, disk and network.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brings the whole stack up: docker compose up -d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three containers, one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1F22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9100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host system metrics at /metrics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196596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6459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1F22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9090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 on a schedule and stores them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164592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468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1645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Prometheus and displays dashboards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16AD7E-B35E-7B70-2F22-CBA60E415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0" y="3575785"/>
            <a:ext cx="10972800" cy="276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GRAFANA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Grafana?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platform to query, visualize and alert on metrics from many data sources.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web UI on port 3000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store metrics itself: it queries data sources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dashboard works for servers, apps, IoT and business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807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688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Loki, MySQL, Elasticsearch and many more.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69680" y="173736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982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panels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24688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Graphs, gauges, stats and tables arranged on one page.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93192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4572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notify you when a metric crosses a threshold.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0" y="393192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982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library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4572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dashboards at grafana.com, e.g. ID 1860.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1">
            <a:extLst>
              <a:ext uri="{FF2B5EF4-FFF2-40B4-BE49-F238E27FC236}">
                <a16:creationId xmlns:a16="http://schemas.microsoft.com/office/drawing/2014/main" id="{123D0887-67C5-7AE6-679F-30F44F9AF955}"/>
              </a:ext>
            </a:extLst>
          </p:cNvPr>
          <p:cNvSpPr/>
          <p:nvPr/>
        </p:nvSpPr>
        <p:spPr>
          <a:xfrm>
            <a:off x="3419856" y="17373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46800"/>
          </a:solidFill>
          <a:ln/>
        </p:spPr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A20C833C-0B0B-110A-5570-DE51D2132594}"/>
              </a:ext>
            </a:extLst>
          </p:cNvPr>
          <p:cNvSpPr/>
          <p:nvPr/>
        </p:nvSpPr>
        <p:spPr>
          <a:xfrm>
            <a:off x="9144000" y="172212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2229"/>
          </a:solidFill>
          <a:ln/>
        </p:spPr>
      </p:sp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GRAFANA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Grafana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22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1528" y="210312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07308" y="17145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(PromQL)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10312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10" name="Shape 8"/>
          <p:cNvSpPr/>
          <p:nvPr/>
        </p:nvSpPr>
        <p:spPr>
          <a:xfrm>
            <a:off x="6272784" y="17373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22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1384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05672" y="210312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94876" y="17145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vs Grafana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40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collects and stores metrics as time-series data.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connects to it, runs </a:t>
            </a:r>
            <a:r>
              <a:rPr lang="en-US" sz="1400" dirty="0" err="1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queries and draws the results as panels.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20040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96D5506-D4D7-1F69-49CB-0D51FE75B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289" y="3371177"/>
            <a:ext cx="5099661" cy="26759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B3E012-E2EB-E5E7-1CD2-C2BF652E1606}"/>
              </a:ext>
            </a:extLst>
          </p:cNvPr>
          <p:cNvSpPr txBox="1"/>
          <p:nvPr/>
        </p:nvSpPr>
        <p:spPr>
          <a:xfrm>
            <a:off x="643128" y="4518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1800" b="1" dirty="0" err="1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PromQL</a:t>
            </a: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Matters</a:t>
            </a:r>
            <a:endParaRPr lang="en-US" sz="18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7A97785A-DB62-F994-62D7-E49B54B0E35D}"/>
              </a:ext>
            </a:extLst>
          </p:cNvPr>
          <p:cNvSpPr txBox="1"/>
          <p:nvPr/>
        </p:nvSpPr>
        <p:spPr>
          <a:xfrm>
            <a:off x="777240" y="4907063"/>
            <a:ext cx="5111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specific metrics from large volumes of monitoring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Calculates rates, averages and resource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Powers Grafana panels and can support alerting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A970-E319-7640-7A70-B679E1C2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1">
            <a:extLst>
              <a:ext uri="{FF2B5EF4-FFF2-40B4-BE49-F238E27FC236}">
                <a16:creationId xmlns:a16="http://schemas.microsoft.com/office/drawing/2014/main" id="{755A2A4E-D242-A2C8-6B37-F122AC54FAD2}"/>
              </a:ext>
            </a:extLst>
          </p:cNvPr>
          <p:cNvSpPr/>
          <p:nvPr/>
        </p:nvSpPr>
        <p:spPr>
          <a:xfrm>
            <a:off x="6272784" y="17373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46800"/>
          </a:solidFill>
          <a:ln/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D5FC55EE-DC92-6B5F-DE2D-88005B958FFA}"/>
              </a:ext>
            </a:extLst>
          </p:cNvPr>
          <p:cNvSpPr/>
          <p:nvPr/>
        </p:nvSpPr>
        <p:spPr>
          <a:xfrm>
            <a:off x="3412998" y="17500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2229"/>
          </a:solidFill>
          <a:ln/>
        </p:spPr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A23D142F-E8E8-B36E-0F90-F21BF13BE0DA}"/>
              </a:ext>
            </a:extLst>
          </p:cNvPr>
          <p:cNvSpPr/>
          <p:nvPr/>
        </p:nvSpPr>
        <p:spPr>
          <a:xfrm>
            <a:off x="9144000" y="172212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2229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D078C74-E978-A731-1CAA-6ABFCD8DD016}"/>
              </a:ext>
            </a:extLst>
          </p:cNvPr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GRAFANA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A89CF7-2CAB-5FC1-17E8-D888F233CAF9}"/>
              </a:ext>
            </a:extLst>
          </p:cNvPr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Grafana works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0D811C-E752-370A-E9E7-32E3D43D8AF3}"/>
              </a:ext>
            </a:extLst>
          </p:cNvPr>
          <p:cNvSpPr/>
          <p:nvPr/>
        </p:nvSpPr>
        <p:spPr>
          <a:xfrm>
            <a:off x="548640" y="17373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2229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18FE3C-8ECA-F9FF-7248-BE4A45565E08}"/>
              </a:ext>
            </a:extLst>
          </p:cNvPr>
          <p:cNvSpPr txBox="1"/>
          <p:nvPr/>
        </p:nvSpPr>
        <p:spPr>
          <a:xfrm>
            <a:off x="77724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9AAFF3-B4FA-4FCE-2022-F040D12A0CE9}"/>
              </a:ext>
            </a:extLst>
          </p:cNvPr>
          <p:cNvSpPr/>
          <p:nvPr/>
        </p:nvSpPr>
        <p:spPr>
          <a:xfrm>
            <a:off x="3081528" y="210312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48E311-397A-F6C2-AB41-A31AB13E2E3C}"/>
              </a:ext>
            </a:extLst>
          </p:cNvPr>
          <p:cNvSpPr txBox="1"/>
          <p:nvPr/>
        </p:nvSpPr>
        <p:spPr>
          <a:xfrm>
            <a:off x="3607308" y="17145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(PromQL)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C0CE510-6C33-2894-E94B-1F77CEF74FEB}"/>
              </a:ext>
            </a:extLst>
          </p:cNvPr>
          <p:cNvSpPr/>
          <p:nvPr/>
        </p:nvSpPr>
        <p:spPr>
          <a:xfrm>
            <a:off x="5943600" y="210312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E48E5A4-EA75-5B39-EDEE-5158BAD73A64}"/>
              </a:ext>
            </a:extLst>
          </p:cNvPr>
          <p:cNvSpPr txBox="1"/>
          <p:nvPr/>
        </p:nvSpPr>
        <p:spPr>
          <a:xfrm>
            <a:off x="6501384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DC8EDC-EFE1-3EA3-ED99-8D6966429AEB}"/>
              </a:ext>
            </a:extLst>
          </p:cNvPr>
          <p:cNvSpPr/>
          <p:nvPr/>
        </p:nvSpPr>
        <p:spPr>
          <a:xfrm>
            <a:off x="8805672" y="2103120"/>
            <a:ext cx="365760" cy="320040"/>
          </a:xfrm>
          <a:prstGeom prst="rightArrow">
            <a:avLst/>
          </a:prstGeom>
          <a:solidFill>
            <a:srgbClr val="F468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0D347C-A1DF-AA9B-E861-303CBF48D5D7}"/>
              </a:ext>
            </a:extLst>
          </p:cNvPr>
          <p:cNvSpPr txBox="1"/>
          <p:nvPr/>
        </p:nvSpPr>
        <p:spPr>
          <a:xfrm>
            <a:off x="9294876" y="17145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AC6B3BA-68FF-61F6-9125-4187E7729B32}"/>
              </a:ext>
            </a:extLst>
          </p:cNvPr>
          <p:cNvSpPr/>
          <p:nvPr/>
        </p:nvSpPr>
        <p:spPr>
          <a:xfrm>
            <a:off x="548640" y="320040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D71FD7-EDD6-BAEF-4B17-A6599F951EAE}"/>
              </a:ext>
            </a:extLst>
          </p:cNvPr>
          <p:cNvSpPr txBox="1"/>
          <p:nvPr/>
        </p:nvSpPr>
        <p:spPr>
          <a:xfrm>
            <a:off x="777240" y="3378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</a:t>
            </a: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Grafana connects to Prometheus, which stores system metrics collected by Node Exporter.</a:t>
            </a:r>
          </a:p>
          <a:p>
            <a:pPr marL="342900" indent="-342900">
              <a:buAutoNum type="arabicPeriod"/>
            </a:pPr>
            <a:endParaRPr lang="en-US" sz="1400" dirty="0">
              <a:solidFill>
                <a:srgbClr val="5B62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AutoNum type="arabicPeriod"/>
            </a:pPr>
            <a:r>
              <a:rPr lang="en-US" sz="14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</a:t>
            </a:r>
            <a:r>
              <a:rPr lang="en-US" sz="1400" b="1" dirty="0" err="1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r>
              <a:rPr lang="en-US" sz="14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Grafana sends queries to Prometheus to retrieve specific metrics, such as CPU utilization, memory usage and network traffic.</a:t>
            </a:r>
          </a:p>
          <a:p>
            <a:pPr marL="342900" indent="-342900">
              <a:buAutoNum type="arabicPeriod"/>
            </a:pPr>
            <a:endParaRPr lang="en-US" sz="1400" dirty="0">
              <a:solidFill>
                <a:srgbClr val="5B62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AutoNum type="arabicPeriod"/>
            </a:pPr>
            <a:r>
              <a:rPr lang="en-US" sz="14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panel </a:t>
            </a: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The query results are displayed using graphs, gauges, tables and other visualizations, making system performance easier to understand.</a:t>
            </a:r>
          </a:p>
          <a:p>
            <a:pPr marL="342900" indent="-342900">
              <a:buAutoNum type="arabicPeriod"/>
            </a:pPr>
            <a:endParaRPr lang="en-US" sz="1400" dirty="0">
              <a:solidFill>
                <a:srgbClr val="5B62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AutoNum type="arabicPeriod"/>
            </a:pPr>
            <a:r>
              <a:rPr lang="en-US" sz="14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Multiple panels are combined into a single dashboard to provide a centralized view of system health.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9148586-FD06-B826-009A-92E78AB543B3}"/>
              </a:ext>
            </a:extLst>
          </p:cNvPr>
          <p:cNvSpPr/>
          <p:nvPr/>
        </p:nvSpPr>
        <p:spPr>
          <a:xfrm>
            <a:off x="6309360" y="320040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FBA89-B833-B76B-6A78-E15470307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11" y="3383280"/>
            <a:ext cx="4938249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7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6126480" y="17373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B8F34B-90E0-753D-03B3-6886005F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240" y="1828801"/>
            <a:ext cx="5242560" cy="187452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OUR USE OF GRAFANA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set it 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F46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stack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94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starts Grafana, Prometheus and Node Exporter. Open Grafana at localhost:3000.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F46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data source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703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Data sources, Prometheus. URL: http://prometheus:9090, then Save &amp; Test.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F468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dashboard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212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Import, ID 1860 (Node Exporter Full), then pick the Prometheus data source.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07680" y="2743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page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2648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89B9AD-46BA-F3F6-7220-F9C5A7678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240" y="4257040"/>
            <a:ext cx="5242560" cy="1869440"/>
          </a:xfrm>
          <a:prstGeom prst="rect">
            <a:avLst/>
          </a:prstGeom>
        </p:spPr>
      </p:pic>
      <p:sp>
        <p:nvSpPr>
          <p:cNvPr id="19" name="Text 17"/>
          <p:cNvSpPr txBox="1"/>
          <p:nvPr/>
        </p:nvSpPr>
        <p:spPr>
          <a:xfrm>
            <a:off x="7863840" y="4973321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import page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1">
            <a:extLst>
              <a:ext uri="{FF2B5EF4-FFF2-40B4-BE49-F238E27FC236}">
                <a16:creationId xmlns:a16="http://schemas.microsoft.com/office/drawing/2014/main" id="{7531E211-04B5-96EB-A02B-52CD29C39E1C}"/>
              </a:ext>
            </a:extLst>
          </p:cNvPr>
          <p:cNvSpPr/>
          <p:nvPr/>
        </p:nvSpPr>
        <p:spPr>
          <a:xfrm>
            <a:off x="8412480" y="1668780"/>
            <a:ext cx="3200400" cy="982980"/>
          </a:xfrm>
          <a:prstGeom prst="roundRect">
            <a:avLst>
              <a:gd name="adj" fmla="val 10000"/>
            </a:avLst>
          </a:prstGeom>
          <a:solidFill>
            <a:srgbClr val="F46800"/>
          </a:solidFill>
          <a:ln/>
        </p:spPr>
      </p:sp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OUR USE OF GRAFANA : LIVE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: Sustained high utilization can indicate compute pressure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64108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per core and load average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412480" y="28346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108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cached and free 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0" y="402336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used and I/O activity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5212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41080" y="5212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 and out per interface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79D5FC-1A84-2A0B-00B2-6F7EA8130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1765086"/>
            <a:ext cx="7147560" cy="4346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9247-B1E4-A0A1-BAFC-BADCCB56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>
            <a:extLst>
              <a:ext uri="{FF2B5EF4-FFF2-40B4-BE49-F238E27FC236}">
                <a16:creationId xmlns:a16="http://schemas.microsoft.com/office/drawing/2014/main" id="{34A5A6E5-EB66-8DDF-279C-CB1227E54E17}"/>
              </a:ext>
            </a:extLst>
          </p:cNvPr>
          <p:cNvSpPr/>
          <p:nvPr/>
        </p:nvSpPr>
        <p:spPr>
          <a:xfrm>
            <a:off x="8412480" y="165735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4043E949-EB85-A808-1334-5145D9F5DA87}"/>
              </a:ext>
            </a:extLst>
          </p:cNvPr>
          <p:cNvSpPr/>
          <p:nvPr/>
        </p:nvSpPr>
        <p:spPr>
          <a:xfrm>
            <a:off x="8412480" y="2804160"/>
            <a:ext cx="3200400" cy="982980"/>
          </a:xfrm>
          <a:prstGeom prst="roundRect">
            <a:avLst>
              <a:gd name="adj" fmla="val 10000"/>
            </a:avLst>
          </a:prstGeom>
          <a:solidFill>
            <a:srgbClr val="F46800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5330EB6-7E36-70A7-05ED-C1CDCA7FA0AE}"/>
              </a:ext>
            </a:extLst>
          </p:cNvPr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OUR USE OF GRAFANA : LIVE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BF8138-0FEE-6F3A-70D7-87A08C59976C}"/>
              </a:ext>
            </a:extLst>
          </p:cNvPr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: Low available memory can lead to Swapping\OOM failures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8DD594-CC72-0F00-E966-F854A499B2F7}"/>
              </a:ext>
            </a:extLst>
          </p:cNvPr>
          <p:cNvSpPr/>
          <p:nvPr/>
        </p:nvSpPr>
        <p:spPr>
          <a:xfrm>
            <a:off x="548640" y="1645920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10E629-D7E5-22D2-74A7-3A1D73A723E6}"/>
              </a:ext>
            </a:extLst>
          </p:cNvPr>
          <p:cNvSpPr txBox="1"/>
          <p:nvPr/>
        </p:nvSpPr>
        <p:spPr>
          <a:xfrm>
            <a:off x="864108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dirty="0"/>
          </a:p>
          <a:p>
            <a:r>
              <a:rPr lang="en-US" sz="1400" dirty="0">
                <a:solidFill>
                  <a:srgbClr val="5B6270"/>
                </a:solidFill>
                <a:ea typeface="Calibri" pitchFamily="34" charset="-122"/>
                <a:cs typeface="Arial" panose="020B0604020202020204" pitchFamily="34" charset="0"/>
              </a:rPr>
              <a:t>Usage per core and load average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520685-C7D0-A650-11FE-41D1C859DA4B}"/>
              </a:ext>
            </a:extLst>
          </p:cNvPr>
          <p:cNvSpPr txBox="1"/>
          <p:nvPr/>
        </p:nvSpPr>
        <p:spPr>
          <a:xfrm>
            <a:off x="864108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cached and free RAM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C6EFB2-DF98-4823-63FA-381E77DE3BF0}"/>
              </a:ext>
            </a:extLst>
          </p:cNvPr>
          <p:cNvSpPr/>
          <p:nvPr/>
        </p:nvSpPr>
        <p:spPr>
          <a:xfrm>
            <a:off x="8412480" y="402336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E29B0E-5C4B-DAE2-E7C1-489FA3502118}"/>
              </a:ext>
            </a:extLst>
          </p:cNvPr>
          <p:cNvSpPr txBox="1"/>
          <p:nvPr/>
        </p:nvSpPr>
        <p:spPr>
          <a:xfrm>
            <a:off x="86410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used and I/O activity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0F3F48F-948B-3DA8-4E0C-9A4F83028199}"/>
              </a:ext>
            </a:extLst>
          </p:cNvPr>
          <p:cNvSpPr/>
          <p:nvPr/>
        </p:nvSpPr>
        <p:spPr>
          <a:xfrm>
            <a:off x="8412480" y="5212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A7F69D-8832-C98A-491F-0BB39373B495}"/>
              </a:ext>
            </a:extLst>
          </p:cNvPr>
          <p:cNvSpPr txBox="1"/>
          <p:nvPr/>
        </p:nvSpPr>
        <p:spPr>
          <a:xfrm>
            <a:off x="8641080" y="5212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 and out per interface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D17BF0-DC4E-9212-A71E-8A4393DC1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1796753"/>
            <a:ext cx="7170420" cy="427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59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A187-8ECD-C076-7EFA-C69EF7B4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1">
            <a:extLst>
              <a:ext uri="{FF2B5EF4-FFF2-40B4-BE49-F238E27FC236}">
                <a16:creationId xmlns:a16="http://schemas.microsoft.com/office/drawing/2014/main" id="{8EB206B9-5981-072B-76E4-F23C37D128DC}"/>
              </a:ext>
            </a:extLst>
          </p:cNvPr>
          <p:cNvSpPr/>
          <p:nvPr/>
        </p:nvSpPr>
        <p:spPr>
          <a:xfrm>
            <a:off x="8412480" y="4011930"/>
            <a:ext cx="3200400" cy="982980"/>
          </a:xfrm>
          <a:prstGeom prst="roundRect">
            <a:avLst>
              <a:gd name="adj" fmla="val 10000"/>
            </a:avLst>
          </a:prstGeom>
          <a:solidFill>
            <a:srgbClr val="F46800"/>
          </a:solidFill>
          <a:ln/>
        </p:spPr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A1040B0-184B-1ED4-8C92-491A242AC72A}"/>
              </a:ext>
            </a:extLst>
          </p:cNvPr>
          <p:cNvSpPr/>
          <p:nvPr/>
        </p:nvSpPr>
        <p:spPr>
          <a:xfrm>
            <a:off x="8412480" y="165735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16EE14B-1024-EC49-B510-5C35B236B079}"/>
              </a:ext>
            </a:extLst>
          </p:cNvPr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OUR USE OF GRAFANA : LIVE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A5348C-F107-9A81-0EAB-6CE842DD3862}"/>
              </a:ext>
            </a:extLst>
          </p:cNvPr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: Low free space can prevent applications from writing data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A14208-C564-E928-0011-44EF139770B5}"/>
              </a:ext>
            </a:extLst>
          </p:cNvPr>
          <p:cNvSpPr/>
          <p:nvPr/>
        </p:nvSpPr>
        <p:spPr>
          <a:xfrm>
            <a:off x="548640" y="1645920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B683FD-1E71-9E66-32DD-99B165D019BB}"/>
              </a:ext>
            </a:extLst>
          </p:cNvPr>
          <p:cNvSpPr txBox="1"/>
          <p:nvPr/>
        </p:nvSpPr>
        <p:spPr>
          <a:xfrm>
            <a:off x="864108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dirty="0"/>
          </a:p>
          <a:p>
            <a:r>
              <a:rPr lang="en-US" sz="1400" dirty="0">
                <a:solidFill>
                  <a:srgbClr val="5B6270"/>
                </a:solidFill>
                <a:ea typeface="Calibri" pitchFamily="34" charset="-122"/>
                <a:cs typeface="Arial" panose="020B0604020202020204" pitchFamily="34" charset="0"/>
              </a:rPr>
              <a:t>Usage per core and load average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5581875-DAA8-61DA-216E-F50656AD304F}"/>
              </a:ext>
            </a:extLst>
          </p:cNvPr>
          <p:cNvSpPr/>
          <p:nvPr/>
        </p:nvSpPr>
        <p:spPr>
          <a:xfrm>
            <a:off x="8412480" y="28346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FD62CE-C44C-2494-EBFF-8F9A458A4620}"/>
              </a:ext>
            </a:extLst>
          </p:cNvPr>
          <p:cNvSpPr txBox="1"/>
          <p:nvPr/>
        </p:nvSpPr>
        <p:spPr>
          <a:xfrm>
            <a:off x="864108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cached and free RAM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22662E5-FA19-856D-3140-500AC6509397}"/>
              </a:ext>
            </a:extLst>
          </p:cNvPr>
          <p:cNvSpPr txBox="1"/>
          <p:nvPr/>
        </p:nvSpPr>
        <p:spPr>
          <a:xfrm>
            <a:off x="86410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used and I/O activity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F6DA0E7-7E62-D419-C44E-D0B6216D0D4A}"/>
              </a:ext>
            </a:extLst>
          </p:cNvPr>
          <p:cNvSpPr/>
          <p:nvPr/>
        </p:nvSpPr>
        <p:spPr>
          <a:xfrm>
            <a:off x="8412480" y="5212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316050-F095-2D33-BB7E-4F5818277777}"/>
              </a:ext>
            </a:extLst>
          </p:cNvPr>
          <p:cNvSpPr txBox="1"/>
          <p:nvPr/>
        </p:nvSpPr>
        <p:spPr>
          <a:xfrm>
            <a:off x="8641080" y="5212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 and out per interface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BE6E2D-79CC-6531-C444-8B71FE80C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8" y="1808480"/>
            <a:ext cx="7153422" cy="419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9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CC77F-3D62-9712-7576-EF979C91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>
            <a:extLst>
              <a:ext uri="{FF2B5EF4-FFF2-40B4-BE49-F238E27FC236}">
                <a16:creationId xmlns:a16="http://schemas.microsoft.com/office/drawing/2014/main" id="{C007C871-B5B6-9558-4089-45B408041645}"/>
              </a:ext>
            </a:extLst>
          </p:cNvPr>
          <p:cNvSpPr/>
          <p:nvPr/>
        </p:nvSpPr>
        <p:spPr>
          <a:xfrm>
            <a:off x="8412480" y="5212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F1B54141-3B9A-7D27-64D6-F2FCBC5A41EF}"/>
              </a:ext>
            </a:extLst>
          </p:cNvPr>
          <p:cNvSpPr/>
          <p:nvPr/>
        </p:nvSpPr>
        <p:spPr>
          <a:xfrm>
            <a:off x="8412480" y="16687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77BFCF2-A5FC-A4FD-3654-3C6BC510DEE2}"/>
              </a:ext>
            </a:extLst>
          </p:cNvPr>
          <p:cNvSpPr/>
          <p:nvPr/>
        </p:nvSpPr>
        <p:spPr>
          <a:xfrm>
            <a:off x="8412480" y="5223510"/>
            <a:ext cx="3200400" cy="982980"/>
          </a:xfrm>
          <a:prstGeom prst="roundRect">
            <a:avLst>
              <a:gd name="adj" fmla="val 10000"/>
            </a:avLst>
          </a:prstGeom>
          <a:solidFill>
            <a:srgbClr val="F46800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DB85530-CD8E-500E-177C-1261A0C64A49}"/>
              </a:ext>
            </a:extLst>
          </p:cNvPr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OUR USE OF GRAFANA : LIVE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4ED496-5230-D12E-73C3-B359FAA5568D}"/>
              </a:ext>
            </a:extLst>
          </p:cNvPr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: Unusual traffic patterns may indicate congestion/unexpected activity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C41CC5-6A44-A4FF-BC64-96C1445FC2E2}"/>
              </a:ext>
            </a:extLst>
          </p:cNvPr>
          <p:cNvSpPr/>
          <p:nvPr/>
        </p:nvSpPr>
        <p:spPr>
          <a:xfrm>
            <a:off x="548640" y="1645920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0C9ED6-6674-9315-AF1C-E944A1B3B57A}"/>
              </a:ext>
            </a:extLst>
          </p:cNvPr>
          <p:cNvSpPr txBox="1"/>
          <p:nvPr/>
        </p:nvSpPr>
        <p:spPr>
          <a:xfrm>
            <a:off x="864108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dirty="0"/>
          </a:p>
          <a:p>
            <a:r>
              <a:rPr lang="en-US" sz="1400" dirty="0">
                <a:solidFill>
                  <a:srgbClr val="5B6270"/>
                </a:solidFill>
                <a:ea typeface="Calibri" pitchFamily="34" charset="-122"/>
                <a:cs typeface="Arial" panose="020B0604020202020204" pitchFamily="34" charset="0"/>
              </a:rPr>
              <a:t>Usage per core and load average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4AE4262-38AC-B7A4-667E-707D5E668621}"/>
              </a:ext>
            </a:extLst>
          </p:cNvPr>
          <p:cNvSpPr/>
          <p:nvPr/>
        </p:nvSpPr>
        <p:spPr>
          <a:xfrm>
            <a:off x="8412480" y="28346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92B1BFA-64A8-C467-6065-67561F1A9682}"/>
              </a:ext>
            </a:extLst>
          </p:cNvPr>
          <p:cNvSpPr txBox="1"/>
          <p:nvPr/>
        </p:nvSpPr>
        <p:spPr>
          <a:xfrm>
            <a:off x="864108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cached and free RAM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387400-1CFD-FE31-5031-FF2FF249AA36}"/>
              </a:ext>
            </a:extLst>
          </p:cNvPr>
          <p:cNvSpPr/>
          <p:nvPr/>
        </p:nvSpPr>
        <p:spPr>
          <a:xfrm>
            <a:off x="8412480" y="402336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2A5E6A-22F2-CFD5-5CB2-400C160E4CD1}"/>
              </a:ext>
            </a:extLst>
          </p:cNvPr>
          <p:cNvSpPr txBox="1"/>
          <p:nvPr/>
        </p:nvSpPr>
        <p:spPr>
          <a:xfrm>
            <a:off x="8641080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2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used and I/O activity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36F2F6-F6A2-3F3C-2D45-64F03785A103}"/>
              </a:ext>
            </a:extLst>
          </p:cNvPr>
          <p:cNvSpPr txBox="1"/>
          <p:nvPr/>
        </p:nvSpPr>
        <p:spPr>
          <a:xfrm>
            <a:off x="8641080" y="5212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 and out per interface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DC8A07-8D97-27E8-3541-56B49DBF0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879433"/>
            <a:ext cx="7109460" cy="415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3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879</Words>
  <Application>Microsoft Office PowerPoint</Application>
  <PresentationFormat>Widescreen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Dashboard with Grafana</dc:title>
  <dc:subject>PptxGenJS Presentation</dc:subject>
  <dc:creator>PptxGenJS</dc:creator>
  <cp:lastModifiedBy>Surya Ganiga</cp:lastModifiedBy>
  <cp:revision>5</cp:revision>
  <dcterms:created xsi:type="dcterms:W3CDTF">2026-10-16T12:54:32Z</dcterms:created>
  <dcterms:modified xsi:type="dcterms:W3CDTF">2026-10-16T19:13:23Z</dcterms:modified>
</cp:coreProperties>
</file>